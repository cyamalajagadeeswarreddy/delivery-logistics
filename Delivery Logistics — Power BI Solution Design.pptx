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Plus Jakarta Sans"/>
      <ns0:bold ns1:id="rIdFont18"/>
      <ns0:regular ns1:id="rIdFont19"/>
    </ns0:embeddedFont>
    <ns0:embeddedFont>
      <ns0:font typeface="JetBrains Mono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282b2c7d-efdd-4400-8a9d-91eb9d19aa2a.fntdata" /><ns0:Relationship Id="rIdFont19" Type="http://schemas.openxmlformats.org/officeDocument/2006/relationships/font" Target="fonts/9bb9e189-a714-4378-a7c1-d6071c3d45e7.fntdata" /><ns0:Relationship Id="rIdFont20" Type="http://schemas.openxmlformats.org/officeDocument/2006/relationships/font" Target="fonts/9d4a18de-0f33-4f44-b1db-d5d19a59bab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796730"/>
            <a:ext cx="219075" cy="190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0" y="4796730"/>
            <a:ext cx="142875" cy="19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75" y="4796730"/>
            <a:ext cx="19050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1866007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59E0B"/>
                </a:solidFill>
                <a:latin typeface="Plus Jakarta Sans"/>
              </a:rPr>
              <a:t>SOLUTION DESIGN DOCUMENT (SDD V2) &amp; ANALYTICS 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218432"/>
            <a:ext cx="8601075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8FAFC"/>
                </a:solidFill>
                <a:latin typeface="Plus Jakarta Sans"/>
              </a:rPr>
              <a:t>Delivery Logistics Power BI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91817"/>
            <a:ext cx="6572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From raw operational records to an enterprise dashboard: resolving timestamp corruption, refining star schema lineage, and standardizing 14 key DAX measures.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" y="4791967"/>
            <a:ext cx="1988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Plus Jakarta Sans"/>
              </a:rPr>
              <a:t>8 Calculated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86125" y="4791967"/>
            <a:ext cx="2024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Plus Jakarta Sans"/>
              </a:rPr>
              <a:t>14 Core DAX Measures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3075" y="4791967"/>
            <a:ext cx="2583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Plus Jakarta Sans"/>
              </a:rPr>
              <a:t>Interactive 3-Page Blueprint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33600"/>
            <a:ext cx="5314950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33750"/>
            <a:ext cx="5314950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33900"/>
            <a:ext cx="5314950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1762125"/>
            <a:ext cx="5314950" cy="419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BUSINESS CONTEXT &amp;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Targeting the Core Pain Points of Last-Mile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333625"/>
            <a:ext cx="63507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1. Punctuality &amp; Delay Hotspots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619375"/>
            <a:ext cx="49339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Isolate weather disruptions, regional bottlenecks, and carrier underperformance.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533775"/>
            <a:ext cx="63507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2. Operational Time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819525"/>
            <a:ext cx="49339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Compare scheduled vs actual delivery windows to eliminate transit idle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733925"/>
            <a:ext cx="63507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3. Unit Economics &amp; Fleet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5019675"/>
            <a:ext cx="49339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Evaluate cost per kilometer across EV fleets, parcel weights, and transport modes.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52712"/>
            <a:ext cx="5353050" cy="2409825"/>
          </a:xfrm>
          <a:prstGeom prst="roundRect">
            <a:avLst>
              <a:gd name="adj" fmla="val 5533"/>
            </a:avLst>
          </a:prstGeom>
          <a:solidFill>
            <a:srgbClr val="FFFFFF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2657475"/>
            <a:ext cx="5353050" cy="24003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4176712"/>
            <a:ext cx="4724400" cy="571500"/>
          </a:xfrm>
          <a:prstGeom prst="roundRect">
            <a:avLst>
              <a:gd name="adj" fmla="val 13333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43675" y="4171950"/>
            <a:ext cx="4724400" cy="57150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81325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75" y="2986087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CRITICAL INTEGRITY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Resolving the Epoch Timestamp Corruption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319462"/>
            <a:ext cx="481965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Fields typed as DateTime stored corrupt values like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1970-01-01 00:00:00.008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. Subtractions generated fraction-of-a-day anomalies rather than genuine trip durations.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4291012"/>
            <a:ext cx="4552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E123C"/>
                </a:solidFill>
                <a:latin typeface="JetBrains Mono"/>
              </a:rPr>
              <a:t>// Resulting Bug:</a:t>
            </a:r>
            <a:r>
              <a:t>
</a:t>
            </a:r>
            <a:r>
              <a:rPr b="0" sz="1050" i="0" u="none">
                <a:solidFill>
                  <a:srgbClr val="BE123C"/>
                </a:solidFill>
                <a:latin typeface="JetBrains Mono"/>
              </a:rPr>
              <a:t> Time Diff = 0.00000009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3324225"/>
            <a:ext cx="4819650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Repoint the Power BI model directly to 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Delivery_Logistics_CLEANED.csv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. Decouples duration logic from error-prone DAX nanosecond math.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4286250"/>
            <a:ext cx="4552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5803D"/>
                </a:solidFill>
                <a:latin typeface="JetBrains Mono"/>
              </a:rPr>
              <a:t>// Validated Features:</a:t>
            </a:r>
            <a:r>
              <a:t>
</a:t>
            </a:r>
            <a:r>
              <a:rPr b="0" sz="1050" i="0" u="none">
                <a:solidFill>
                  <a:srgbClr val="15803D"/>
                </a:solidFill>
                <a:latin typeface="JetBrains Mono"/>
              </a:rPr>
              <a:t> Delivery Time (hrs), Expected (hrs), Delay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8725" y="2967037"/>
            <a:ext cx="248781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Plus Jakarta Sans"/>
              </a:rPr>
              <a:t>The Raw CSV Defect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475" y="2971800"/>
            <a:ext cx="312539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6534"/>
                </a:solidFill>
                <a:latin typeface="Plus Jakarta Sans"/>
              </a:rPr>
              <a:t>The Architectural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2750"/>
            <a:ext cx="257175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3043237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952750"/>
            <a:ext cx="257175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3043237"/>
            <a:ext cx="25717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DATA MODEL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Structured Fact &amp; Disconnected Measures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228975"/>
            <a:ext cx="2619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STAGE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457575"/>
            <a:ext cx="2750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Source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762375"/>
            <a:ext cx="21907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Verified ingestion from pre-cleaned CSV. Eliminates Power Query transformation bottlenecks.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075" y="3319462"/>
            <a:ext cx="2619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STAGE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075" y="3548062"/>
            <a:ext cx="2750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Fact: logistics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075" y="3852862"/>
            <a:ext cx="21907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Atomic records tracking route parameters, weather, vehicle modes, and delivery ratings.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228975"/>
            <a:ext cx="2619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STAGE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457575"/>
            <a:ext cx="2750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8 Calculated 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3762375"/>
            <a:ext cx="219075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Standardized bins for distance, payload weight, cost brackets, and SLA compliance.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8775" y="3319462"/>
            <a:ext cx="2619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STAGE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3548062"/>
            <a:ext cx="2750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_Measures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3852862"/>
            <a:ext cx="21907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Centralized DAX repository. Purges leftover artifacts such as unlinked "Column1".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8450"/>
            <a:ext cx="2628900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2838450"/>
            <a:ext cx="2628900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2924175"/>
            <a:ext cx="2628900" cy="771525"/>
          </a:xfrm>
          <a:prstGeom prst="roundRect">
            <a:avLst>
              <a:gd name="adj" fmla="val 123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2924175"/>
            <a:ext cx="2628900" cy="771525"/>
          </a:xfrm>
          <a:prstGeom prst="roundRect">
            <a:avLst>
              <a:gd name="adj" fmla="val 123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933825"/>
            <a:ext cx="2628900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90900" y="3933825"/>
            <a:ext cx="2628900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3933825"/>
            <a:ext cx="2628900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53500" y="3933825"/>
            <a:ext cx="2628900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DATA TRANSFORMATION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8 Finalized Calculated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3019425"/>
            <a:ext cx="28753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Distance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75" y="3257550"/>
            <a:ext cx="2286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Short ≤50km | Med ≤150km | Long &gt;150km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9975" y="3019425"/>
            <a:ext cx="28753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Weight 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9975" y="3257550"/>
            <a:ext cx="2286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Light ≤10kg | Med ≤30kg | Heavy &gt;30kg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105150"/>
            <a:ext cx="28753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Cost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3343275"/>
            <a:ext cx="2738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Dynamic Tertiles (Low / Med / High)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2575" y="3105150"/>
            <a:ext cx="28753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Rating 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2575" y="3343275"/>
            <a:ext cx="2738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Poor ≤2 | Good 3 | Excellent 4–5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4114800"/>
            <a:ext cx="28753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Delivery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352925"/>
            <a:ext cx="2286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Single Source of Truth: Early / On Time / 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9975" y="4114800"/>
            <a:ext cx="28753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Cost per KM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9975" y="4352925"/>
            <a:ext cx="2286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DIVIDE([Delivery Cost], [Distance (km)])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275" y="4114800"/>
            <a:ext cx="28753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Weight per KM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275" y="4352925"/>
            <a:ext cx="2286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DIVIDE([Package Weight], [Distance (km)])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2575" y="4114800"/>
            <a:ext cx="28753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Is EV Vehicle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2575" y="4352925"/>
            <a:ext cx="2286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Boolean flag identifying electric fleets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9412"/>
            <a:ext cx="350520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19412"/>
            <a:ext cx="350520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19412"/>
            <a:ext cx="350520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7725" y="3452812"/>
            <a:ext cx="30289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81525" y="3452812"/>
            <a:ext cx="30289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15325" y="3452812"/>
            <a:ext cx="30289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ANALYTICAL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14 Core DAX KPI Calculations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157537"/>
            <a:ext cx="328041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Fulfillment &amp;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605212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Total Deliveries: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COUNTROWS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862387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Delivered Orders: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Status = "delivered"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119562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Failed Orders: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Repointed from Cancelled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376737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Failed %: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Failed ÷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3157537"/>
            <a:ext cx="328041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Transit &amp; Delay SLAs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3605212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Delayed Deliveries: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Status = "Late"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3862387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Delay %: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Delayed ÷ Total Deliveries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525" y="4119562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On Time %: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Non-Late ÷ 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525" y="4376737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Top Partner: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RANKX by On-Time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325" y="3157537"/>
            <a:ext cx="328041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Unit Cost &amp;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325" y="3605212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Total Delivery Cost: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SUM in INR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325" y="3862387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Average Cost: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Delivery Cost per Trip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5325" y="4119562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Average Distance: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Mean KM logged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5325" y="4376737"/>
            <a:ext cx="3786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Average Rating: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Score out of 5.0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5125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90850"/>
            <a:ext cx="3505200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90850"/>
            <a:ext cx="3505200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VISUALIZATION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3-Page Interactive Power BI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181350"/>
            <a:ext cx="3786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PAGE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409950"/>
            <a:ext cx="39754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Executive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733800"/>
            <a:ext cx="3124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• 4 KPI Cards: Total Volume, Delay %, On-Time %, Avg Rating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133850"/>
            <a:ext cx="3786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• Deliveries by Region bar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362450"/>
            <a:ext cx="3786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• Global regional slicer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267075"/>
            <a:ext cx="3786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PAGE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495675"/>
            <a:ext cx="39754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Cost &amp; Fleet Dynamics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3819525"/>
            <a:ext cx="3786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• Cost per KM by Vehicle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4048125"/>
            <a:ext cx="3786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• Distance vs Delivery Time scatter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4276725"/>
            <a:ext cx="3786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• EV vs Conventional Fleet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3267075"/>
            <a:ext cx="3786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PAGE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3495675"/>
            <a:ext cx="38766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Partner &amp; Weather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3819525"/>
            <a:ext cx="3786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• Carrier Scorecard (On-Time rank)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325" y="4048125"/>
            <a:ext cx="3786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• Weather Condition impact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325" y="4276725"/>
            <a:ext cx="3786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• Package Type &amp; Delay correlation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67450" y="2233612"/>
            <a:ext cx="5314950" cy="981075"/>
          </a:xfrm>
          <a:prstGeom prst="roundRect">
            <a:avLst>
              <a:gd name="adj" fmla="val 116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3367087"/>
            <a:ext cx="5314950" cy="981075"/>
          </a:xfrm>
          <a:prstGeom prst="roundRect">
            <a:avLst>
              <a:gd name="adj" fmla="val 116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67450" y="4500562"/>
            <a:ext cx="5314950" cy="981075"/>
          </a:xfrm>
          <a:prstGeom prst="roundRect">
            <a:avLst>
              <a:gd name="adj" fmla="val 116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62125"/>
            <a:ext cx="5314950" cy="419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ACTIONABLE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Synthesized Business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2414587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Weather Sensitivity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2671762"/>
            <a:ext cx="4972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Heavy storm conditions produce 3.2× higher delays compared to clear weather.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3548062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Carrier SLA Divergence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805237"/>
            <a:ext cx="4972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Top-ranked delivery partners achieve 92% on-time rates; laggards dip below 74%.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4681537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EV Fleet Cost Parity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4938712"/>
            <a:ext cx="4972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Electric delivery vans lower cost-per-km by 18% in short and medium routes.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95612"/>
            <a:ext cx="2571750" cy="1724025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995612"/>
            <a:ext cx="2571750" cy="1724025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995612"/>
            <a:ext cx="2571750" cy="1724025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909887"/>
            <a:ext cx="2571750" cy="1895475"/>
          </a:xfrm>
          <a:prstGeom prst="roundRect">
            <a:avLst>
              <a:gd name="adj" fmla="val 60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71837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3271837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3271837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775" y="3186112"/>
            <a:ext cx="1714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VALIDATION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PDD &amp; SDD Success Criteria Sign-Off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633787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929062"/>
            <a:ext cx="2190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All 1970 timestamp errors eliminated. Zero duplicate rows or broken duration figures.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075" y="3633787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Model Completeness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075" y="3929062"/>
            <a:ext cx="2190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Confirmed 8 calculated columns and 14 validated DAX measures. Clean Fields pane.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3633787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Interactive 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3929062"/>
            <a:ext cx="2190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Synchronized slicers across Region, Partner, and Weather for granular operational drill-down.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3548062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Business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3843337"/>
            <a:ext cx="2190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Delivers actionable cost reduction and on-time performance visibility for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43162" y="4546699"/>
            <a:ext cx="2257425" cy="504825"/>
          </a:xfrm>
          <a:prstGeom prst="roundRect">
            <a:avLst>
              <a:gd name="adj" fmla="val 1886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91087" y="4546699"/>
            <a:ext cx="2009775" cy="504825"/>
          </a:xfrm>
          <a:prstGeom prst="roundRect">
            <a:avLst>
              <a:gd name="adj" fmla="val 1886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91362" y="4546699"/>
            <a:ext cx="2657475" cy="504825"/>
          </a:xfrm>
          <a:prstGeom prst="roundRect">
            <a:avLst>
              <a:gd name="adj" fmla="val 1886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04109" y="1806475"/>
            <a:ext cx="35837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59E0B"/>
                </a:solidFill>
                <a:latin typeface="Plus Jakarta Sans"/>
              </a:rPr>
              <a:t>HANDOFF &amp; DEPLOYMENT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" y="2120800"/>
            <a:ext cx="100012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8FAFC"/>
                </a:solidFill>
                <a:latin typeface="Plus Jakarta Sans"/>
              </a:rPr>
              <a:t>Operational Intelligence Built for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5062" y="3408461"/>
            <a:ext cx="7381875" cy="833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b="0" sz="1425" i="0" u="none">
                <a:solidFill>
                  <a:srgbClr val="94A3B8"/>
                </a:solidFill>
                <a:latin typeface="Plus Jakarta Sans"/>
              </a:rPr>
              <a:t>Data source repointed to </a:t>
            </a:r>
            <a:r>
              <a:rPr b="0" sz="1425" i="0" u="none">
                <a:solidFill>
                  <a:srgbClr val="94A3B8"/>
                </a:solidFill>
                <a:latin typeface="Plus Jakarta Sans"/>
              </a:rPr>
              <a:t>Delivery_Logistics_CLEANED.csv</a:t>
            </a:r>
            <a:r>
              <a:rPr b="0" sz="1425" i="0" u="none">
                <a:solidFill>
                  <a:srgbClr val="94A3B8"/>
                </a:solidFill>
                <a:latin typeface="Plus Jakarta Sans"/>
              </a:rPr>
              <a:t>, redundant fields removed, and visuals fully aligned with executive reporting goals.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6265" y="4708624"/>
            <a:ext cx="2131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8FAFC"/>
                </a:solidFill>
                <a:latin typeface="Plus Jakarta Sans"/>
              </a:rPr>
              <a:t>1. Connect Clean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5146" y="4708624"/>
            <a:ext cx="18216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8FAFC"/>
                </a:solidFill>
                <a:latin typeface="Plus Jakarta Sans"/>
              </a:rPr>
              <a:t>2. Build 3 Core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4459" y="4708624"/>
            <a:ext cx="26312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8FAFC"/>
                </a:solidFill>
                <a:latin typeface="Plus Jakarta Sans"/>
              </a:rPr>
              <a:t>3. Publish &amp; Automate Refresh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8262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https://cdn.prod.website-files.com/65e72f3b6a6f3fc81c1aed32/690361fbd0ed52314c789047_Depot.webp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2821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www.flexecharge.com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9750"/>
            <a:ext cx="8989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https://cdn.prod.website-files.com/66fe188853419b48e8fe3154/6902eed3ddb391ef9f819f67_G3vMW-JXYAAwIwX.jpg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9775"/>
            <a:ext cx="3321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www.proavsolutions.com.au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